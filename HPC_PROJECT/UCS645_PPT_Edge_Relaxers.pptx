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40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3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63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29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05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70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0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96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08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75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30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706A5-6B11-49C2-BD55-9DD3A6CB5FCF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3CAC7C-B9BF-41FA-8236-ECC61477565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09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7DA5-E03F-D6BA-E498-261C67E22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81912"/>
            <a:ext cx="8144134" cy="2571277"/>
          </a:xfrm>
        </p:spPr>
        <p:txBody>
          <a:bodyPr>
            <a:normAutofit/>
          </a:bodyPr>
          <a:lstStyle/>
          <a:p>
            <a:r>
              <a:rPr lang="en-US" sz="4000" dirty="0"/>
              <a:t>Parallel and distributed computing (UCS-645) Project 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DA094-7788-7AD1-4688-28B67EB70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662" y="3657600"/>
            <a:ext cx="8144134" cy="1656272"/>
          </a:xfrm>
        </p:spPr>
        <p:txBody>
          <a:bodyPr>
            <a:normAutofit fontScale="40000" lnSpcReduction="20000"/>
          </a:bodyPr>
          <a:lstStyle/>
          <a:p>
            <a:endParaRPr lang="en-US" sz="2800" dirty="0"/>
          </a:p>
          <a:p>
            <a:endParaRPr lang="en-US" sz="2800" dirty="0"/>
          </a:p>
          <a:p>
            <a:r>
              <a:rPr lang="en-US" sz="5900" dirty="0"/>
              <a:t>Aryan Sirohi-(102303832)</a:t>
            </a:r>
          </a:p>
          <a:p>
            <a:r>
              <a:rPr lang="en-US" sz="5900" dirty="0" err="1"/>
              <a:t>Ritvik</a:t>
            </a:r>
            <a:r>
              <a:rPr lang="en-US" sz="5900" dirty="0"/>
              <a:t> Bajaj -  (102303821)</a:t>
            </a:r>
            <a:endParaRPr lang="en-IN" sz="5900" dirty="0"/>
          </a:p>
        </p:txBody>
      </p:sp>
    </p:spTree>
    <p:extLst>
      <p:ext uri="{BB962C8B-B14F-4D97-AF65-F5344CB8AC3E}">
        <p14:creationId xmlns:p14="http://schemas.microsoft.com/office/powerpoint/2010/main" val="58950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1C22E26-706A-C1D2-1362-53EA475D9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1914" y="479736"/>
            <a:ext cx="11511679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PARALLELISATION OF BELLMAN FORD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(why do we need parallelization?)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8D099C-1B4D-6152-A4D5-9A0AC8D5F1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8937" y="1909250"/>
            <a:ext cx="1057766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Bellman-Ford is a classical shortest-path algorithm capable of handling negative edge weights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real-world applications such as network routing, financial systems and transportation networks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 execution becomes impractically slow for large graphs due to O(V × E) complexity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computing offers a solution by executing independent operations simultaneously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explores and compares four approaches to solve this problem </a:t>
            </a:r>
          </a:p>
        </p:txBody>
      </p:sp>
    </p:spTree>
    <p:extLst>
      <p:ext uri="{BB962C8B-B14F-4D97-AF65-F5344CB8AC3E}">
        <p14:creationId xmlns:p14="http://schemas.microsoft.com/office/powerpoint/2010/main" val="329216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7BF9-4AF8-1230-9147-1FCA22ED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  Analysis of  SEQUENTIAL Bellman ford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B7AFF9-7CCD-2060-CBB5-B6445FAFF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433" y="2079045"/>
            <a:ext cx="1074042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 Bellman-Ford checks every edge one by one, making it slow for large graphs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inner edge relaxation loop has no data dependency — edges in the same iteration are independent of each other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independence is the key opportunity for parallelization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 is to exploit this parallelism effectively using different computing paradigms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Reduce execution time while maintaining correctness of the algorithm </a:t>
            </a:r>
          </a:p>
        </p:txBody>
      </p:sp>
    </p:spTree>
    <p:extLst>
      <p:ext uri="{BB962C8B-B14F-4D97-AF65-F5344CB8AC3E}">
        <p14:creationId xmlns:p14="http://schemas.microsoft.com/office/powerpoint/2010/main" val="162580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7478-57EC-146E-C298-A8AD89D97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Objectives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23DC4D-AE6B-1CDC-9ED6-0CA869012A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841" y="2086158"/>
            <a:ext cx="11097087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parallel OpenMP version using shared memory across multiple CPU threads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parallel MPI version using distributed memory across multiple processes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Hybrid OpenMP + MPI version combining both paradigms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 all four versions and measure speedup, parallel efficiency and scalability </a:t>
            </a:r>
          </a:p>
        </p:txBody>
      </p:sp>
    </p:spTree>
    <p:extLst>
      <p:ext uri="{BB962C8B-B14F-4D97-AF65-F5344CB8AC3E}">
        <p14:creationId xmlns:p14="http://schemas.microsoft.com/office/powerpoint/2010/main" val="89604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6197-B499-F872-7AA1-14DCA88C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abbreviations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F5FF4A-EAD8-37FC-210E-18B99EDCA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02210"/>
            <a:ext cx="75348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Total number of vertices (nodes) in the graph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Total number of edges (connections) in the graph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Number of OpenMP threads running in parallel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Number of MPI processes running in parallel </a:t>
            </a:r>
          </a:p>
        </p:txBody>
      </p:sp>
    </p:spTree>
    <p:extLst>
      <p:ext uri="{BB962C8B-B14F-4D97-AF65-F5344CB8AC3E}">
        <p14:creationId xmlns:p14="http://schemas.microsoft.com/office/powerpoint/2010/main" val="314867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5EBF-4664-6523-BCC6-D18A0A02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1 (SEQUENTIAL)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F06B96-9BBC-6D58-5416-49C9CCC411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982" y="1848041"/>
            <a:ext cx="870623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CPU thread processes all edges across V−1 iterations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Serves as the performance baseline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Complexity: O(V × E) </a:t>
            </a:r>
          </a:p>
        </p:txBody>
      </p:sp>
    </p:spTree>
    <p:extLst>
      <p:ext uri="{BB962C8B-B14F-4D97-AF65-F5344CB8AC3E}">
        <p14:creationId xmlns:p14="http://schemas.microsoft.com/office/powerpoint/2010/main" val="299382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3AE8-89DB-91A3-92F3-9107F673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2 (using  OPEN-MP)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0E4402-BEDD-18DC-D7A8-BA826A3FA6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0716" y="1582340"/>
            <a:ext cx="1059490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 edge relaxation loop parallelized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#pragma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omp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parallel for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threads share a common distance array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operations prevent race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Threads synchronize at a barrier after each iteration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Approximat</a:t>
            </a:r>
            <a:r>
              <a:rPr lang="en-US" altLang="en-US" sz="2400" dirty="0">
                <a:latin typeface="Arial" panose="020B0604020202020204" pitchFamily="34" charset="0"/>
              </a:rPr>
              <a:t>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Complexity: O(V × (E/T)) </a:t>
            </a:r>
          </a:p>
        </p:txBody>
      </p:sp>
    </p:spTree>
    <p:extLst>
      <p:ext uri="{BB962C8B-B14F-4D97-AF65-F5344CB8AC3E}">
        <p14:creationId xmlns:p14="http://schemas.microsoft.com/office/powerpoint/2010/main" val="345166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A081-7F7C-DA80-3050-B2391DCD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3 (USING MPI)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D75328-AC6F-72D4-BB3C-CCDF46262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2069" y="2130804"/>
            <a:ext cx="1031485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list partitioned equally across P independent processes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process relaxes its local edges independently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MPI_Allreduce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synchronizes shortest distances across all processes after every iteration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Approximate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Complexity: O(V × (E/P)) + O(V × log P) </a:t>
            </a:r>
          </a:p>
        </p:txBody>
      </p:sp>
    </p:spTree>
    <p:extLst>
      <p:ext uri="{BB962C8B-B14F-4D97-AF65-F5344CB8AC3E}">
        <p14:creationId xmlns:p14="http://schemas.microsoft.com/office/powerpoint/2010/main" val="311835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6AEB-6DFC-6739-FDFD-D5599890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4 ( HYBRID, OPEN MP+MPI)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51582A-D36F-70ED-B17F-A6B1572FA2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263711"/>
            <a:ext cx="936108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MPI distributes edge list across processes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OpenMP threads further parallelize relaxation within each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overall performance among all four implementations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Approximate Time Complexity: O(V × (E/(T×P))) + O(V × log P) </a:t>
            </a:r>
          </a:p>
        </p:txBody>
      </p:sp>
    </p:spTree>
    <p:extLst>
      <p:ext uri="{BB962C8B-B14F-4D97-AF65-F5344CB8AC3E}">
        <p14:creationId xmlns:p14="http://schemas.microsoft.com/office/powerpoint/2010/main" val="1684346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DD79-E4D1-FFFD-41DB-1A6C60AF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,OUTPUTS and some key considerations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DD69-6B68-20A3-73F6-783130C25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19780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Desirable  speedup is </a:t>
            </a:r>
            <a:r>
              <a:rPr lang="en-US" sz="2400" b="1" dirty="0"/>
              <a:t>attained </a:t>
            </a:r>
            <a:r>
              <a:rPr lang="en-US" sz="2400" dirty="0"/>
              <a:t>for large  graphs:</a:t>
            </a:r>
          </a:p>
          <a:p>
            <a:endParaRPr lang="en-US" sz="2400" dirty="0"/>
          </a:p>
          <a:p>
            <a:r>
              <a:rPr lang="en-IN" dirty="0"/>
              <a:t>                                                           </a:t>
            </a:r>
            <a:r>
              <a:rPr lang="en-IN" dirty="0">
                <a:sym typeface="Wingdings" panose="05000000000000000000" pitchFamily="2" charset="2"/>
              </a:rPr>
              <a:t></a:t>
            </a:r>
          </a:p>
          <a:p>
            <a:r>
              <a:rPr lang="en-IN" dirty="0">
                <a:sym typeface="Wingdings" panose="05000000000000000000" pitchFamily="2" charset="2"/>
              </a:rPr>
              <a:t>                                                          </a:t>
            </a:r>
          </a:p>
          <a:p>
            <a:r>
              <a:rPr lang="en-IN" dirty="0">
                <a:sym typeface="Wingdings" panose="05000000000000000000" pitchFamily="2" charset="2"/>
              </a:rPr>
              <a:t>                                                           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                                                           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D76AA-A078-108D-FD74-54A7A7E11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35" y="2689027"/>
            <a:ext cx="5288806" cy="2315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334EAB-4014-4828-AD4C-8CB157171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160" y="2689027"/>
            <a:ext cx="5419449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8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E0443-2EB1-A826-57B6-BE25CA29F798}"/>
              </a:ext>
            </a:extLst>
          </p:cNvPr>
          <p:cNvSpPr txBox="1"/>
          <p:nvPr/>
        </p:nvSpPr>
        <p:spPr>
          <a:xfrm>
            <a:off x="569343" y="1017917"/>
            <a:ext cx="11110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Desired speedup was not achieved for small graphs ( in fact increasing the threads  </a:t>
            </a:r>
          </a:p>
          <a:p>
            <a:r>
              <a:rPr lang="en-US" sz="2400" dirty="0">
                <a:sym typeface="Wingdings" panose="05000000000000000000" pitchFamily="2" charset="2"/>
              </a:rPr>
              <a:t>  increased  the execution time)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87610-9926-CE21-B7CC-C2A0D03A9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" y="2279322"/>
            <a:ext cx="5779699" cy="2972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203BD3-A646-DEE8-32DF-59B1373B4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86" y="2222164"/>
            <a:ext cx="5454769" cy="3029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4658AD-2BBB-1FF5-EDB4-73B6F166531D}"/>
              </a:ext>
            </a:extLst>
          </p:cNvPr>
          <p:cNvSpPr txBox="1"/>
          <p:nvPr/>
        </p:nvSpPr>
        <p:spPr>
          <a:xfrm>
            <a:off x="6096000" y="2441275"/>
            <a:ext cx="3824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</a:p>
        </p:txBody>
      </p:sp>
    </p:spTree>
    <p:extLst>
      <p:ext uri="{BB962C8B-B14F-4D97-AF65-F5344CB8AC3E}">
        <p14:creationId xmlns:p14="http://schemas.microsoft.com/office/powerpoint/2010/main" val="363674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C0EB-4C48-8449-CC71-FE1AFEE7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happens?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5A233B-769D-EE55-8EA7-876A9452D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295" y="2016125"/>
            <a:ext cx="6751735" cy="34496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CE06D5-FD46-7D6B-DE38-C59F4794735E}"/>
              </a:ext>
            </a:extLst>
          </p:cNvPr>
          <p:cNvSpPr txBox="1"/>
          <p:nvPr/>
        </p:nvSpPr>
        <p:spPr>
          <a:xfrm>
            <a:off x="293298" y="2286000"/>
            <a:ext cx="22696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happens because of Amdahl’s law, parallelism will only help if the problem is large enough to justify the overhead costs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9530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9D1A-5C69-8D82-B18B-029A89E7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Some more findings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92BE0-C232-5473-CA7B-AF0587949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1" y="2093763"/>
            <a:ext cx="4479285" cy="34496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1E40E6-277C-4124-A8C7-6A637043E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76" y="2093763"/>
            <a:ext cx="5029201" cy="3449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33CCB3-061B-CBD6-EF38-8DD43473C0AB}"/>
              </a:ext>
            </a:extLst>
          </p:cNvPr>
          <p:cNvSpPr txBox="1"/>
          <p:nvPr/>
        </p:nvSpPr>
        <p:spPr>
          <a:xfrm>
            <a:off x="681487" y="5633049"/>
            <a:ext cx="427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Execution time for various graph sizes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36B63-BE6A-7C11-0263-8DE5012F0D2D}"/>
              </a:ext>
            </a:extLst>
          </p:cNvPr>
          <p:cNvSpPr txBox="1"/>
          <p:nvPr/>
        </p:nvSpPr>
        <p:spPr>
          <a:xfrm>
            <a:off x="5742317" y="5598744"/>
            <a:ext cx="482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Speedup  variation for varying number of threads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040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3E8E-1B17-6DCD-73CC-EDA13290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8C475A-0467-F585-B566-0DDE0163AE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861" y="2167822"/>
            <a:ext cx="1157472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Bellman-Ford algorithm can be effectively parallelized using OpenMP, MPI and Hybrid approaches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three parallel implementations deliver meaningful speedup over the sequential baseline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Speedup gains increase with graph size, confirming that parallelization is most beneficial for large-scale 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Amdahl's Law accurately predicts the performance ceiling, highlighting the importance of minimizing the sequential fraction </a:t>
            </a:r>
          </a:p>
        </p:txBody>
      </p:sp>
    </p:spTree>
    <p:extLst>
      <p:ext uri="{BB962C8B-B14F-4D97-AF65-F5344CB8AC3E}">
        <p14:creationId xmlns:p14="http://schemas.microsoft.com/office/powerpoint/2010/main" val="1506523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reative Thank You Presentation Template - SlideKit">
            <a:extLst>
              <a:ext uri="{FF2B5EF4-FFF2-40B4-BE49-F238E27FC236}">
                <a16:creationId xmlns:a16="http://schemas.microsoft.com/office/drawing/2014/main" id="{768F3618-4C37-DE0A-744B-8C6BF56387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E4DB28BC-0AB3-7643-2D9A-FEE7FA72D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736" y="685800"/>
            <a:ext cx="7553864" cy="480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4044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</TotalTime>
  <Words>597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Gill Sans MT</vt:lpstr>
      <vt:lpstr>Wingdings</vt:lpstr>
      <vt:lpstr>Gallery</vt:lpstr>
      <vt:lpstr>Parallel and distributed computing (UCS-645) Project </vt:lpstr>
      <vt:lpstr>  PARALLELISATION OF BELLMAN FORD  (why do we need parallelization?)</vt:lpstr>
      <vt:lpstr>  an  Analysis of  SEQUENTIAL Bellman ford </vt:lpstr>
      <vt:lpstr> Objectives</vt:lpstr>
      <vt:lpstr>Some abbreviations</vt:lpstr>
      <vt:lpstr>ALGORITHM 1 (SEQUENTIAL)</vt:lpstr>
      <vt:lpstr>ALGORITHM 2 (using  OPEN-MP)</vt:lpstr>
      <vt:lpstr>Algorithm 3 (USING MPI)</vt:lpstr>
      <vt:lpstr>ALGORITHM 4 ( HYBRID, OPEN MP+MPI)</vt:lpstr>
      <vt:lpstr>RESULTS ,OUTPUTS and some key considerations</vt:lpstr>
      <vt:lpstr>PowerPoint Presentation</vt:lpstr>
      <vt:lpstr>Why this happens?</vt:lpstr>
      <vt:lpstr> Some more findings </vt:lpstr>
      <vt:lpstr>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and distributed computing (UCS-645) Project</dc:title>
  <dc:creator>aryan2303 sirohi</dc:creator>
  <cp:lastModifiedBy>aryan2303 sirohi</cp:lastModifiedBy>
  <cp:revision>2</cp:revision>
  <dcterms:created xsi:type="dcterms:W3CDTF">2026-04-30T15:55:09Z</dcterms:created>
  <dcterms:modified xsi:type="dcterms:W3CDTF">2026-05-01T03:35:50Z</dcterms:modified>
</cp:coreProperties>
</file>